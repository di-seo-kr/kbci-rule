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310896" cy="31089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맑은 고딕"/>
                <a:ea typeface="맑은 고딕"/>
              </a:rPr>
              <a:t>KB신용정보 사규관리시스템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331720"/>
            <a:ext cx="12191695" cy="2286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331720"/>
            <a:ext cx="12191695" cy="73152"/>
          </a:xfrm>
          <a:prstGeom prst="rect">
            <a:avLst/>
          </a:prstGeom>
          <a:solidFill>
            <a:srgbClr val="E8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KB신용정보 사규관리시스템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맑은 고딕"/>
                <a:ea typeface="맑은 고딕"/>
              </a:rPr>
              <a:t>사용자 매뉴얼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맑은 고딕"/>
                <a:ea typeface="맑은 고딕"/>
              </a:rPr>
              <a:t>접속 주소 : kbregulation.wizice.com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맑은 고딕"/>
                <a:ea typeface="맑은 고딕"/>
              </a:rPr>
              <a:t>2026.06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맑은 고딕"/>
                <a:ea typeface="맑은 고딕"/>
              </a:rPr>
              <a:t>※ 본 매뉴얼은 사용자(임직원) 기준이며, 실제 화면과 일부 다를 수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0"/>
            <a:ext cx="91440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554480"/>
            <a:ext cx="420624" cy="420624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33333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  <a:ea typeface="맑은 고딕"/>
              </a:rPr>
              <a:t>메인 화면</a:t>
            </a:r>
            <a:r>
              <a:rPr sz="1000" b="0">
                <a:solidFill>
                  <a:srgbClr val="D9532C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731520" y="2395728"/>
            <a:ext cx="420624" cy="420624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33333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500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  <a:ea typeface="맑은 고딕"/>
              </a:rPr>
              <a:t>사규 분류로 찾기</a:t>
            </a:r>
            <a:r>
              <a:rPr sz="1000" b="0">
                <a:solidFill>
                  <a:srgbClr val="D9532C"/>
                </a:solidFill>
                <a:latin typeface="맑은 고딕"/>
                <a:ea typeface="맑은 고딕"/>
              </a:rPr>
              <a:t>  (확인 필요)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36976"/>
            <a:ext cx="420624" cy="420624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33333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91256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  <a:ea typeface="맑은 고딕"/>
              </a:rPr>
              <a:t>사규 검색하기</a:t>
            </a:r>
            <a:r>
              <a:rPr sz="1000" b="0">
                <a:solidFill>
                  <a:srgbClr val="D9532C"/>
                </a:solidFill>
                <a:latin typeface="맑은 고딕"/>
                <a:ea typeface="맑은 고딕"/>
              </a:rPr>
              <a:t>  (확인 필요)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78224"/>
            <a:ext cx="420624" cy="420624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33333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032504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  <a:ea typeface="맑은 고딕"/>
              </a:rPr>
              <a:t>사규 상세(본문) 보기</a:t>
            </a:r>
            <a:r>
              <a:rPr sz="1000" b="0">
                <a:solidFill>
                  <a:srgbClr val="D9532C"/>
                </a:solidFill>
                <a:latin typeface="맑은 고딕"/>
                <a:ea typeface="맑은 고딕"/>
              </a:rPr>
              <a:t>  (확인 필요)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1554480"/>
            <a:ext cx="420624" cy="420624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333333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508760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  <a:ea typeface="맑은 고딕"/>
              </a:rPr>
              <a:t>사규 캘린더</a:t>
            </a:r>
            <a:r>
              <a:rPr sz="1000" b="0">
                <a:solidFill>
                  <a:srgbClr val="D9532C"/>
                </a:solidFill>
                <a:latin typeface="맑은 고딕"/>
                <a:ea typeface="맑은 고딕"/>
              </a:rPr>
              <a:t>  (확인 필요)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395728"/>
            <a:ext cx="420624" cy="420624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333333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3500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  <a:ea typeface="맑은 고딕"/>
              </a:rPr>
              <a:t>공지사항 · 별표/부록</a:t>
            </a:r>
            <a:r>
              <a:rPr sz="1000" b="0">
                <a:solidFill>
                  <a:srgbClr val="D9532C"/>
                </a:solidFill>
                <a:latin typeface="맑은 고딕"/>
                <a:ea typeface="맑은 고딕"/>
              </a:rPr>
              <a:t>  (확인 필요)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3236976"/>
            <a:ext cx="420624" cy="420624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333333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191256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  <a:ea typeface="맑은 고딕"/>
              </a:rPr>
              <a:t>법령 검색 (외부 연계)</a:t>
            </a:r>
            <a:r>
              <a:rPr sz="1000" b="0">
                <a:solidFill>
                  <a:srgbClr val="D9532C"/>
                </a:solidFill>
                <a:latin typeface="맑은 고딕"/>
                <a:ea typeface="맑은 고딕"/>
              </a:rPr>
              <a:t>  (확인 필요)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078224"/>
            <a:ext cx="420624" cy="420624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333333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032504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  <a:ea typeface="맑은 고딕"/>
              </a:rPr>
              <a:t>본인 인증 / 로그인</a:t>
            </a:r>
            <a:r>
              <a:rPr sz="1000" b="0">
                <a:solidFill>
                  <a:srgbClr val="D9532C"/>
                </a:solidFill>
                <a:latin typeface="맑은 고딕"/>
                <a:ea typeface="맑은 고딕"/>
              </a:rPr>
              <a:t>  (확인 필요)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KB신용정보 사규관리시스템 사용자 매뉴얼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메인 화면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6720840" cy="5074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862118"/>
            <a:ext cx="6501383" cy="38195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451860"/>
            <a:ext cx="6720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E6E6E"/>
                </a:solidFill>
                <a:latin typeface="맑은 고딕"/>
                <a:ea typeface="맑은 고딕"/>
              </a:rPr>
              <a:t>[ 화면 캡처 영역 ]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맑은 고딕"/>
                <a:ea typeface="맑은 고딕"/>
              </a:rPr>
              <a:t>(여기에 실제 캡처가 들어갑니다)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32588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화면 개요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66420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783080"/>
            <a:ext cx="4434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사규관리시스템에 접속하면 처음 보이는 메인(홈) 화면입니다. 상단 메뉴 · 좌측 분류 · 중앙 검색/목록 · 우측 공지 영역으로 구성됩니다.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78892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사용 단계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312724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0920" y="3291840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36976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상단 메뉴: [사규 검색] · [사규 캘린더] · [법령 검색]으로 주요 기능 이동 (법령 검색은 외부 링크)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3968496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13632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본인 인증: 우측 상단 [본인 인증]으로 사용자 인증/로그인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0" y="4462272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407408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사규 분류: 좌측 1편~12편 분류. ∨ 로 펼쳐 하위 사규 탐색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4956048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901184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통합 검색창: 사규명·키워드로 빠르게 검색</a:t>
            </a:r>
          </a:p>
        </p:txBody>
      </p:sp>
      <p:sp>
        <p:nvSpPr>
          <p:cNvPr id="23" name="Oval 22"/>
          <p:cNvSpPr/>
          <p:nvPr/>
        </p:nvSpPr>
        <p:spPr>
          <a:xfrm>
            <a:off x="7360920" y="5266944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212080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사규 개정 / 제정·폐지: 최근 시행 사규를 구분·사규명·시행일자로 확인 (탭 전환)</a:t>
            </a:r>
          </a:p>
        </p:txBody>
      </p:sp>
      <p:sp>
        <p:nvSpPr>
          <p:cNvPr id="25" name="Oval 24"/>
          <p:cNvSpPr/>
          <p:nvPr/>
        </p:nvSpPr>
        <p:spPr>
          <a:xfrm>
            <a:off x="7360920" y="5760720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705856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공지사항 / 별표·부록: 시스템 공지와 별표·부록 확인. [더 보기]로 전체 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KB신용정보 사규관리시스템 사용자 매뉴얼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사규 분류로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6720840" cy="5074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862118"/>
            <a:ext cx="6501383" cy="38195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451860"/>
            <a:ext cx="6720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E6E6E"/>
                </a:solidFill>
                <a:latin typeface="맑은 고딕"/>
                <a:ea typeface="맑은 고딕"/>
              </a:rPr>
              <a:t>[ 화면 캡처 영역 ]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맑은 고딕"/>
                <a:ea typeface="맑은 고딕"/>
              </a:rPr>
              <a:t>(여기에 실제 캡처가 들어갑니다)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32588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화면 개요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66420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783080"/>
            <a:ext cx="4434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찾는 사규의 이름을 모를 때, 좌측 분류 트리로 주제(편)별로 사규를 찾습니다.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78892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사용 단계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312724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0920" y="3291840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36976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편 선택: 찾는 주제의 편 확인 (예: 인사 → 6편 인사·복지)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3785616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730752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펼치기(∨): 편 오른쪽 ∨ 클릭 시 하위 사규 목록 표시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0" y="4279392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224528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사규 선택: 사규명 클릭 → 상세(본문) 화면 이동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4773168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718304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사이드바 접기(&lt;): 화면을 넓게 보려면 좌측 영역 접기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5989320"/>
            <a:ext cx="4434840" cy="384048"/>
          </a:xfrm>
          <a:prstGeom prst="rect">
            <a:avLst/>
          </a:prstGeom>
          <a:solidFill>
            <a:srgbClr val="FDF1E6"/>
          </a:solidFill>
          <a:ln w="9525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5989320"/>
            <a:ext cx="42153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D9532C"/>
                </a:solidFill>
                <a:latin typeface="맑은 고딕"/>
                <a:ea typeface="맑은 고딕"/>
              </a:rPr>
              <a:t>[확인 필요] </a:t>
            </a:r>
            <a:r>
              <a:rPr sz="950" b="0">
                <a:solidFill>
                  <a:srgbClr val="D9532C"/>
                </a:solidFill>
                <a:latin typeface="맑은 고딕"/>
                <a:ea typeface="맑은 고딕"/>
              </a:rPr>
              <a:t>펼친 하위 목록 캡처 매칭 예정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KB신용정보 사규관리시스템 사용자 매뉴얼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사규 검색하기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6720840" cy="5074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862118"/>
            <a:ext cx="6501383" cy="38195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451860"/>
            <a:ext cx="6720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E6E6E"/>
                </a:solidFill>
                <a:latin typeface="맑은 고딕"/>
                <a:ea typeface="맑은 고딕"/>
              </a:rPr>
              <a:t>[ 화면 캡처 영역 ]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맑은 고딕"/>
                <a:ea typeface="맑은 고딕"/>
              </a:rPr>
              <a:t>(여기에 실제 캡처가 들어갑니다)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32588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화면 개요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66420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783080"/>
            <a:ext cx="4434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중앙 통합 검색창으로 사규명이나 키워드를 입력해 원하는 사규를 빠르게 찾습니다.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78892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사용 단계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312724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0920" y="3291840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36976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검색어 입력: 핵심 단어로 입력 (예: 정보보호, 복무규정)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3785616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730752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검색 실행: 키보드 Enter 또는 돋보기 버튼 클릭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0" y="4279392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224528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결과 확인: 키워드와 관련된 사규 목록 표시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4590288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535424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상세 이동: 사규명 클릭 → 본문 보기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5989320"/>
            <a:ext cx="4434840" cy="384048"/>
          </a:xfrm>
          <a:prstGeom prst="rect">
            <a:avLst/>
          </a:prstGeom>
          <a:solidFill>
            <a:srgbClr val="FDF1E6"/>
          </a:solidFill>
          <a:ln w="9525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5989320"/>
            <a:ext cx="42153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D9532C"/>
                </a:solidFill>
                <a:latin typeface="맑은 고딕"/>
                <a:ea typeface="맑은 고딕"/>
              </a:rPr>
              <a:t>[확인 필요] </a:t>
            </a:r>
            <a:r>
              <a:rPr sz="950" b="0">
                <a:solidFill>
                  <a:srgbClr val="D9532C"/>
                </a:solidFill>
                <a:latin typeface="맑은 고딕"/>
                <a:ea typeface="맑은 고딕"/>
              </a:rPr>
              <a:t>검색 결과 화면 캡처 매칭 예정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KB신용정보 사규관리시스템 사용자 매뉴얼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사규 상세(본문)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6720840" cy="5074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862118"/>
            <a:ext cx="6501383" cy="38195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451860"/>
            <a:ext cx="6720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E6E6E"/>
                </a:solidFill>
                <a:latin typeface="맑은 고딕"/>
                <a:ea typeface="맑은 고딕"/>
              </a:rPr>
              <a:t>[ 화면 캡처 영역 ]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맑은 고딕"/>
                <a:ea typeface="맑은 고딕"/>
              </a:rPr>
              <a:t>(여기에 실제 캡처가 들어갑니다)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32588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화면 개요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66420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783080"/>
            <a:ext cx="4434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검색 결과나 분류에서 사규명을 클릭하면 이동하는 본문 열람 화면입니다. 조문·시행일자·개정이력·별표를 확인합니다.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78892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사용 단계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312724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0920" y="3291840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36976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사규명 · 구분(제정/개정/폐지) · 시행일자 확인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3785616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730752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본문(조문) 열람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0" y="4096512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41648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개정 이력(연혁) 보기 — 이전 버전 확인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4407408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52544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별표·부록 열람/다운로드</a:t>
            </a:r>
          </a:p>
        </p:txBody>
      </p:sp>
      <p:sp>
        <p:nvSpPr>
          <p:cNvPr id="23" name="Oval 22"/>
          <p:cNvSpPr/>
          <p:nvPr/>
        </p:nvSpPr>
        <p:spPr>
          <a:xfrm>
            <a:off x="7360920" y="4718304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663440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인쇄 / 다운로드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5989320"/>
            <a:ext cx="4434840" cy="384048"/>
          </a:xfrm>
          <a:prstGeom prst="rect">
            <a:avLst/>
          </a:prstGeom>
          <a:solidFill>
            <a:srgbClr val="FDF1E6"/>
          </a:solidFill>
          <a:ln w="9525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0648" y="5989320"/>
            <a:ext cx="42153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D9532C"/>
                </a:solidFill>
                <a:latin typeface="맑은 고딕"/>
                <a:ea typeface="맑은 고딕"/>
              </a:rPr>
              <a:t>[확인 필요] </a:t>
            </a:r>
            <a:r>
              <a:rPr sz="950" b="0">
                <a:solidFill>
                  <a:srgbClr val="D9532C"/>
                </a:solidFill>
                <a:latin typeface="맑은 고딕"/>
                <a:ea typeface="맑은 고딕"/>
              </a:rPr>
              <a:t>실제 화면 확인 후 항목·명칭 보완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KB신용정보 사규관리시스템 사용자 매뉴얼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사규 캘린더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6720840" cy="5074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862118"/>
            <a:ext cx="6501383" cy="38195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451860"/>
            <a:ext cx="6720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E6E6E"/>
                </a:solidFill>
                <a:latin typeface="맑은 고딕"/>
                <a:ea typeface="맑은 고딕"/>
              </a:rPr>
              <a:t>[ 화면 캡처 영역 ]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맑은 고딕"/>
                <a:ea typeface="맑은 고딕"/>
              </a:rPr>
              <a:t>(여기에 실제 캡처가 들어갑니다)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32588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화면 개요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66420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783080"/>
            <a:ext cx="4434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상단 [사규 캘린더]에서 사규의 시행일자(제·개정·폐지 일정)를 달력으로 확인합니다.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78892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사용 단계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312724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0920" y="3291840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36976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[사규 캘린더] 메뉴 진입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3602736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547872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월 이동(&lt; &gt;)으로 원하는 달 선택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0" y="3913632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858768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일정 확인: 해당일 시행 사규명·구분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4224528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169664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일정 클릭 → 사규 상세 이동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5989320"/>
            <a:ext cx="4434840" cy="384048"/>
          </a:xfrm>
          <a:prstGeom prst="rect">
            <a:avLst/>
          </a:prstGeom>
          <a:solidFill>
            <a:srgbClr val="FDF1E6"/>
          </a:solidFill>
          <a:ln w="9525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5989320"/>
            <a:ext cx="42153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D9532C"/>
                </a:solidFill>
                <a:latin typeface="맑은 고딕"/>
                <a:ea typeface="맑은 고딕"/>
              </a:rPr>
              <a:t>[확인 필요] </a:t>
            </a:r>
            <a:r>
              <a:rPr sz="950" b="0">
                <a:solidFill>
                  <a:srgbClr val="D9532C"/>
                </a:solidFill>
                <a:latin typeface="맑은 고딕"/>
                <a:ea typeface="맑은 고딕"/>
              </a:rPr>
              <a:t>실제 화면 확인 후 보완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KB신용정보 사규관리시스템 사용자 매뉴얼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공지사항 · 별표/부록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6720840" cy="5074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862118"/>
            <a:ext cx="6501383" cy="38195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451860"/>
            <a:ext cx="6720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E6E6E"/>
                </a:solidFill>
                <a:latin typeface="맑은 고딕"/>
                <a:ea typeface="맑은 고딕"/>
              </a:rPr>
              <a:t>[ 화면 캡처 영역 ]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맑은 고딕"/>
                <a:ea typeface="맑은 고딕"/>
              </a:rPr>
              <a:t>(여기에 실제 캡처가 들어갑니다)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32588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화면 개요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66420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783080"/>
            <a:ext cx="4434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메인 화면 우측 패널에서 시스템 공지와 사규에 딸린 자료(별표·부록)를 확인합니다.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78892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사용 단계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312724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0920" y="3291840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36976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[공지사항] 탭: 점검·오픈 등 시스템 안내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3602736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547872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공지 제목 클릭 → 상세 내용 확인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0" y="3913632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858768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[별표·부록] 탭으로 전환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4224528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169664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항목 클릭 → 열람 / 다운로드</a:t>
            </a:r>
          </a:p>
        </p:txBody>
      </p:sp>
      <p:sp>
        <p:nvSpPr>
          <p:cNvPr id="23" name="Oval 22"/>
          <p:cNvSpPr/>
          <p:nvPr/>
        </p:nvSpPr>
        <p:spPr>
          <a:xfrm>
            <a:off x="7360920" y="4535424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480560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[더 보기]로 전체 목록 보기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5989320"/>
            <a:ext cx="4434840" cy="384048"/>
          </a:xfrm>
          <a:prstGeom prst="rect">
            <a:avLst/>
          </a:prstGeom>
          <a:solidFill>
            <a:srgbClr val="FDF1E6"/>
          </a:solidFill>
          <a:ln w="9525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0648" y="5989320"/>
            <a:ext cx="42153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D9532C"/>
                </a:solidFill>
                <a:latin typeface="맑은 고딕"/>
                <a:ea typeface="맑은 고딕"/>
              </a:rPr>
              <a:t>[확인 필요] </a:t>
            </a:r>
            <a:r>
              <a:rPr sz="950" b="0">
                <a:solidFill>
                  <a:srgbClr val="D9532C"/>
                </a:solidFill>
                <a:latin typeface="맑은 고딕"/>
                <a:ea typeface="맑은 고딕"/>
              </a:rPr>
              <a:t>상세 화면 캡처 매칭 예정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KB신용정보 사규관리시스템 사용자 매뉴얼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법령 검색 (외부 연계)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6720840" cy="5074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862118"/>
            <a:ext cx="6501383" cy="38195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451860"/>
            <a:ext cx="6720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E6E6E"/>
                </a:solidFill>
                <a:latin typeface="맑은 고딕"/>
                <a:ea typeface="맑은 고딕"/>
              </a:rPr>
              <a:t>[ 화면 캡처 영역 ]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맑은 고딕"/>
                <a:ea typeface="맑은 고딕"/>
              </a:rPr>
              <a:t>(여기에 실제 캡처가 들어갑니다)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32588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화면 개요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66420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783080"/>
            <a:ext cx="4434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상단 [법령 검색]은 사규의 근거 법령을 외부 사이트에서 검색하도록 연결합니다(새 창).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78892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사용 단계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312724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0920" y="3291840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36976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[법령 검색] 메뉴 클릭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3602736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547872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외부 법령 검색 사이트가 새 창으로 열림(↗)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0" y="3913632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858768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법령명·키워드로 검색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4224528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169664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기존 탭/창으로 복귀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5989320"/>
            <a:ext cx="4434840" cy="384048"/>
          </a:xfrm>
          <a:prstGeom prst="rect">
            <a:avLst/>
          </a:prstGeom>
          <a:solidFill>
            <a:srgbClr val="FDF1E6"/>
          </a:solidFill>
          <a:ln w="9525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5989320"/>
            <a:ext cx="42153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D9532C"/>
                </a:solidFill>
                <a:latin typeface="맑은 고딕"/>
                <a:ea typeface="맑은 고딕"/>
              </a:rPr>
              <a:t>[확인 필요] </a:t>
            </a:r>
            <a:r>
              <a:rPr sz="950" b="0">
                <a:solidFill>
                  <a:srgbClr val="D9532C"/>
                </a:solidFill>
                <a:latin typeface="맑은 고딕"/>
                <a:ea typeface="맑은 고딕"/>
              </a:rPr>
              <a:t>연결 대상 사이트 확인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KB신용정보 사규관리시스템 사용자 매뉴얼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46888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0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본인 인증 / 로그인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6720840" cy="5074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862118"/>
            <a:ext cx="6501383" cy="38195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451860"/>
            <a:ext cx="6720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E6E6E"/>
                </a:solidFill>
                <a:latin typeface="맑은 고딕"/>
                <a:ea typeface="맑은 고딕"/>
              </a:rPr>
              <a:t>[ 화면 캡처 영역 ]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맑은 고딕"/>
                <a:ea typeface="맑은 고딕"/>
              </a:rPr>
              <a:t>(여기에 실제 캡처가 들어갑니다)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32588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화면 개요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66420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783080"/>
            <a:ext cx="4434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우측 상단 [본인 인증]은 사용자를 확인하는 절차입니다. 인증이 필요한 기능 이용 시 사용합니다.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78892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9A00"/>
                </a:solidFill>
                <a:latin typeface="맑은 고딕"/>
                <a:ea typeface="맑은 고딕"/>
              </a:rPr>
              <a:t>사용 단계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3127248"/>
            <a:ext cx="502920" cy="411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0920" y="3291840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36976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우측 상단 [본인 인증] 클릭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3602736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547872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인증 수단 선택 · 정보 입력</a:t>
            </a:r>
          </a:p>
        </p:txBody>
      </p:sp>
      <p:sp>
        <p:nvSpPr>
          <p:cNvPr id="19" name="Oval 18"/>
          <p:cNvSpPr/>
          <p:nvPr/>
        </p:nvSpPr>
        <p:spPr>
          <a:xfrm>
            <a:off x="7360920" y="3913632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858768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인증 완료 → 우측 상단에 사용자 상태 표시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4224528"/>
            <a:ext cx="292608" cy="292608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169664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인증이 필요한 사규 열람·기능 이용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5989320"/>
            <a:ext cx="4434840" cy="384048"/>
          </a:xfrm>
          <a:prstGeom prst="rect">
            <a:avLst/>
          </a:prstGeom>
          <a:solidFill>
            <a:srgbClr val="FDF1E6"/>
          </a:solidFill>
          <a:ln w="9525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5989320"/>
            <a:ext cx="42153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D9532C"/>
                </a:solidFill>
                <a:latin typeface="맑은 고딕"/>
                <a:ea typeface="맑은 고딕"/>
              </a:rPr>
              <a:t>[확인 필요] </a:t>
            </a:r>
            <a:r>
              <a:rPr sz="950" b="0">
                <a:solidFill>
                  <a:srgbClr val="D9532C"/>
                </a:solidFill>
                <a:latin typeface="맑은 고딕"/>
                <a:ea typeface="맑은 고딕"/>
              </a:rPr>
              <a:t>실제 인증 방식(SSO/휴대폰 등) 확인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KB신용정보 사규관리시스템 사용자 매뉴얼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>
                <a:solidFill>
                  <a:srgbClr val="6E6E6E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